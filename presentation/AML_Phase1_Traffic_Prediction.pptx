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(Member 1 Opening):</a:t>
            </a:r>
          </a:p>
          <a:p>
            <a:r>
              <a:t>Welcome professors and examiners. Today our team presents Phase 1 of our machine learning project on Historical METR-LA Traffic Speed Forecasting. Our course mandate targets Graph Attention Networks, but as rigorous engineers, Phase 1 establishes the reproducible classical machine learning benchmark against which all subsequent deep models will be measured. Let us outline our four-person division of work and begin with our scientific guardrails.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(Member 1):</a:t>
            </a:r>
          </a:p>
          <a:p>
            <a:r>
              <a:t>To ensure complete academic truthfulness, we clarify our scope: the METR-LA dataset contains loop detector speeds in mph. We do not claim live traffic signal actuation or vehicular flow prediction. Phase 1 delivers the classical machine learning baselines.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(Member 1):</a:t>
            </a:r>
          </a:p>
          <a:p>
            <a:r>
              <a:t>Here we show the verified dataset characteristics. All 7 million observations stem from 207 Caltrans sensors over 4 months. Notice the empirical speed distribution on the right: valid speeds average 58.47 mph with a median of 63 mph.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(Member 1 handoff to Member 2):</a:t>
            </a:r>
          </a:p>
          <a:p>
            <a:r>
              <a:t>A critical contribution of WS1 was our missingness protocol: 8.11% of readings are 0.0. We avoid naive zero-to-NaN conversion, enforcing valid labels for evaluation while using causal forward-fill for historical features. Now, Member 2 will discuss feature windowing and split integrity.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(Member 2):</a:t>
            </a:r>
          </a:p>
          <a:p>
            <a:r>
              <a:t>Thank you Member 1. In WS2, we built our causal windowing engine. We strictly prohibit random train/test splits. Instead, we enforce a 70/10/20 chronological partition. For any origin t, our models only receive observations up to t (60 min history) and predict +15, +30, and +60 min ahead.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(Member 2):</a:t>
            </a:r>
          </a:p>
          <a:p>
            <a:r>
              <a:t>To satisfy the runbook's acceptance criteria, we authored an automated pytest suite. All 6 unit tests pass, verifying no target leakage, exact target offsets, and strict training-only scaler fitting. We even hand-verified metric calculations on illustrative records.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(Member 2 handoff to Member 3):</a:t>
            </a:r>
          </a:p>
          <a:p>
            <a:r>
              <a:t>Here we observe the empirical diurnal dynamics of the LA freeway network. Notice the clear morning and evening dips on the chart. Now Member 3 will explain how we modeled these patterns with non-linear machine learning.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(Member 3):</a:t>
            </a:r>
          </a:p>
          <a:p>
            <a:r>
              <a:t>Thank you Member 2. In WS3, we formulated three direct multi-horizon models. Persistence provides our benchmark. Ridge provides our linear baseline with tuned L2 penalty. XGBoost provides our non-linear gradient boosted tree baseline with early stopping on validation error.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(Member 3):</a:t>
            </a:r>
          </a:p>
          <a:p>
            <a:r>
              <a:t>These are our frozen test evaluation numbers. Across 90,149 instances, XGBoost decisively leads at all horizons: 2.59 mph at 15m, 3.17 mph at 30m, and 4.01 mph at 60m. Notice on the chart how error increases monotonically with lookahead duration, as expected in traffic physics.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(Member 3):</a:t>
            </a:r>
          </a:p>
          <a:p>
            <a:r>
              <a:t>This slide presents a continuous 24-hour trace from held-out test data on June 5, 2012. Notice how the black line, ground truth, plunges during morning rush hour. Persistence simply shifts the curve rightwards by 15 minutes, whereas XGBoost (green line) tracks the drop and recovery accurately.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(Member 3):</a:t>
            </a:r>
          </a:p>
          <a:p>
            <a:r>
              <a:t>A key scientific contribution is our stratified peak vs off-peak analysis. Off-peak traffic is largely free-flowing, yielding MAEs near 2.29 mph. During rush hour shockwaves, error nearly doubles across all models. This proves that rush hours require spatial context.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(Member 3 handoff to Member 4):</a:t>
            </a:r>
          </a:p>
          <a:p>
            <a:r>
              <a:t>In our ablation study, adding top-3 road network neighbors consistently reduced error across every single horizon. At 60 minutes, MAE dropped from 4.02 to 3.81 mph. This proves highway neighbors provide vital predictive signals. Now Member 4 will present our Streamlit system and transition to Phase 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(Member 4):</a:t>
            </a:r>
          </a:p>
          <a:p>
            <a:r>
              <a:t>Thank you Member 3. In WS4, we created an offline-first Streamlit application. It bundles lightweight precomputed test predictions, so examiners can inspect any held-out test scenario instantly. There is no fake live data and no retraining overhead.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(Member 4):</a:t>
            </a:r>
          </a:p>
          <a:p>
            <a:r>
              <a:t>Here is our research bridge to Phase 2. While classical spatial concatenation helped, it is static. In Phase 2, we will implement Graph Attention Networks (GAT). Dynamic attention allows the model to shift focus between upstream and downstream sensors as shockwaves travel.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(Member 4 Closing):</a:t>
            </a:r>
          </a:p>
          <a:p>
            <a:r>
              <a:t>In conclusion, our team has fulfilled all runbook criteria: true provenance, causal windowing, automated unit tests, empirical benchmark metrics, an interactive Streamlit app, and a complete IEEE conference manuscript. We are now prepared for examiner questions and defense.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371600"/>
            <a:ext cx="10332720" cy="4114800"/>
          </a:xfrm>
          <a:prstGeom prst="rect">
            <a:avLst/>
          </a:prstGeom>
          <a:noFill/>
        </p:spPr>
        <p:txBody>
          <a:bodyPr wrap="square">
            <a:spAutoFit/>
          </a:bodyPr>
          <a:lstStyle/>
          <a:p>
            <a:pPr>
              <a:spcAft>
                <a:spcPts val="1000"/>
              </a:spcAft>
              <a:defRPr sz="2800" b="1">
                <a:solidFill>
                  <a:srgbClr val="1E3A8A"/>
                </a:solidFill>
              </a:defRPr>
            </a:pPr>
            <a:r>
              <a:t>HISTORICAL METR-LA TRAFFIC SPEED FORECASTING</a:t>
            </a:r>
          </a:p>
          <a:p>
            <a:pPr>
              <a:spcAft>
                <a:spcPts val="2000"/>
              </a:spcAft>
              <a:defRPr sz="1800">
                <a:solidFill>
                  <a:srgbClr val="2563EB"/>
                </a:solidFill>
              </a:defRPr>
            </a:pPr>
            <a:r>
              <a:t>Phase 1 Classical ML Baselines, Multi-Horizon Evaluation &amp; Causal Benchmarking</a:t>
            </a:r>
          </a:p>
          <a:p>
            <a:pPr>
              <a:spcAft>
                <a:spcPts val="2000"/>
              </a:spcAft>
              <a:defRPr sz="1300">
                <a:solidFill>
                  <a:srgbClr val="374151"/>
                </a:solidFill>
              </a:defRPr>
            </a:pPr>
            <a:r>
              <a:t>Course: Traffic Flow Prediction and Signal Control via Graph Attention Networks and Flow Models</a:t>
            </a:r>
          </a:p>
          <a:p>
            <a:pPr>
              <a:defRPr sz="1200">
                <a:solidFill>
                  <a:srgbClr val="374151"/>
                </a:solidFill>
              </a:defRPr>
            </a:pPr>
            <a:r>
              <a:t>Team Members &amp; Ownership:</a:t>
            </a:r>
            <a:br/>
            <a:r>
              <a:t>• Member 1: Lead, Data &amp; Provenance (WS1)</a:t>
            </a:r>
            <a:br/>
            <a:r>
              <a:t>• Member 2: Lead, Features &amp; Baselines (WS2)</a:t>
            </a:r>
            <a:br/>
            <a:r>
              <a:t>• Member 3: Lead, Non-Linear Models &amp; Evaluation (WS3)</a:t>
            </a:r>
            <a:br/>
            <a:r>
              <a:t>• Member 4: Lead, Systems, Dashboard &amp; Integration (WS4)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defRPr>
            </a:pPr>
            <a:r>
              <a:t>RESEARCH SCOPE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E3A8A"/>
                </a:solidFill>
              </a:defRPr>
            </a:pPr>
            <a:r>
              <a:t>Problem Formulation &amp; Scientific Boundaries</a:t>
            </a:r>
          </a:p>
        </p:txBody>
      </p:sp>
      <p:sp>
        <p:nvSpPr>
          <p:cNvPr id="4" name="TextBox 3"/>
          <p:cNvSpPr txBox="1"/>
          <p:nvPr/>
        </p:nvSpPr>
        <p:spPr>
          <a:xfrm>
            <a:off x="731520" y="1645920"/>
            <a:ext cx="10698480" cy="4572000"/>
          </a:xfrm>
          <a:prstGeom prst="rect">
            <a:avLst/>
          </a:prstGeom>
          <a:noFill/>
        </p:spPr>
        <p:txBody>
          <a:bodyPr wrap="square">
            <a:spAutoFit/>
          </a:bodyPr>
          <a:lstStyle/>
          <a:p/>
          <a:p>
            <a:pPr>
              <a:spcAft>
                <a:spcPts val="1400"/>
              </a:spcAft>
              <a:defRPr sz="1400">
                <a:solidFill>
                  <a:srgbClr val="374151"/>
                </a:solidFill>
              </a:defRPr>
            </a:pPr>
            <a:r>
              <a:t>• The Forecasting Challenge: Predict traffic speed (mph) on Los Angeles highway corridors across multiple lookahead horizons (+15, +30, and +60 minutes) given past 60 minutes of sensor readings.</a:t>
            </a:r>
          </a:p>
          <a:p>
            <a:pPr>
              <a:spcAft>
                <a:spcPts val="1400"/>
              </a:spcAft>
              <a:defRPr sz="1400">
                <a:solidFill>
                  <a:srgbClr val="374151"/>
                </a:solidFill>
              </a:defRPr>
            </a:pPr>
            <a:r>
              <a:t>• Strict Phase 1 Scope: Classical machine learning algorithms (Historical Persistence, L2-regularized Ridge Regression, and Gradient Boosted Trees XGBoost).</a:t>
            </a:r>
          </a:p>
          <a:p>
            <a:pPr>
              <a:spcAft>
                <a:spcPts val="1400"/>
              </a:spcAft>
              <a:defRPr sz="1400">
                <a:solidFill>
                  <a:srgbClr val="374151"/>
                </a:solidFill>
              </a:defRPr>
            </a:pPr>
            <a:r>
              <a:t>• Dataset Ground Truth: The benchmark METR-LA dataset contains highway speed measurements from loop detectors. It does NOT contain vehicular volume/flow or traffic signal controller states.</a:t>
            </a:r>
          </a:p>
          <a:p>
            <a:pPr>
              <a:spcAft>
                <a:spcPts val="1400"/>
              </a:spcAft>
              <a:defRPr sz="1400">
                <a:solidFill>
                  <a:srgbClr val="374151"/>
                </a:solidFill>
              </a:defRPr>
            </a:pPr>
            <a:r>
              <a:t>• Scientific Guardrails: We assert zero ungrounded claims of live traffic signal actuation or unmeasured vehicular flow. Phase 2 is strictly dedicated to Graph Attention Networks (GAT) and deep spatial-temporal architectures.</a:t>
            </a:r>
          </a:p>
          <a:p>
            <a:pPr>
              <a:spcAft>
                <a:spcPts val="1400"/>
              </a:spcAft>
              <a:defRPr sz="1400">
                <a:solidFill>
                  <a:srgbClr val="374151"/>
                </a:solidFill>
              </a:defRPr>
            </a:pPr>
            <a:r>
              <a:t>• Acceptance Focus: Total reproducibility, zero synthetic numbers, verifiable chronological partitions, and an offline interactive demonstration.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defRPr>
            </a:pPr>
            <a:r>
              <a:t>DATA PROVENANCE (WS1)</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E3A8A"/>
                </a:solidFill>
              </a:defRPr>
            </a:pPr>
            <a:r>
              <a:t>METR-LA Dataset &amp; Cryptographic Lineage</a:t>
            </a:r>
          </a:p>
        </p:txBody>
      </p:sp>
      <p:sp>
        <p:nvSpPr>
          <p:cNvPr id="4" name="TextBox 3"/>
          <p:cNvSpPr txBox="1"/>
          <p:nvPr/>
        </p:nvSpPr>
        <p:spPr>
          <a:xfrm>
            <a:off x="731520" y="1645920"/>
            <a:ext cx="5486400" cy="4572000"/>
          </a:xfrm>
          <a:prstGeom prst="rect">
            <a:avLst/>
          </a:prstGeom>
          <a:noFill/>
        </p:spPr>
        <p:txBody>
          <a:bodyPr wrap="square">
            <a:spAutoFit/>
          </a:bodyPr>
          <a:lstStyle/>
          <a:p/>
          <a:p>
            <a:pPr>
              <a:spcAft>
                <a:spcPts val="1000"/>
              </a:spcAft>
              <a:defRPr sz="1300">
                <a:solidFill>
                  <a:srgbClr val="374151"/>
                </a:solidFill>
              </a:defRPr>
            </a:pPr>
            <a:r>
              <a:t>• Benchmark Origin: Caltrans PeMS loop detectors (Los Angeles County freeways).</a:t>
            </a:r>
          </a:p>
          <a:p>
            <a:pPr>
              <a:spcAft>
                <a:spcPts val="1000"/>
              </a:spcAft>
              <a:defRPr sz="1300">
                <a:solidFill>
                  <a:srgbClr val="374151"/>
                </a:solidFill>
              </a:defRPr>
            </a:pPr>
            <a:r>
              <a:t>• Canonical Source: DCRNN paper (Li et al., ICLR 2018).</a:t>
            </a:r>
          </a:p>
          <a:p>
            <a:pPr>
              <a:spcAft>
                <a:spcPts val="1000"/>
              </a:spcAft>
              <a:defRPr sz="1300">
                <a:solidFill>
                  <a:srgbClr val="374151"/>
                </a:solidFill>
              </a:defRPr>
            </a:pPr>
            <a:r>
              <a:t>• Sensor Stations: 207 loop detectors spanning I-5, I-10, I-405, SR-110, US-101.</a:t>
            </a:r>
          </a:p>
          <a:p>
            <a:pPr>
              <a:spcAft>
                <a:spcPts val="1000"/>
              </a:spcAft>
              <a:defRPr sz="1300">
                <a:solidFill>
                  <a:srgbClr val="374151"/>
                </a:solidFill>
              </a:defRPr>
            </a:pPr>
            <a:r>
              <a:t>• Observation Period: March 1, 2012 to June 27, 2012 (4 continuous months).</a:t>
            </a:r>
          </a:p>
          <a:p>
            <a:pPr>
              <a:spcAft>
                <a:spcPts val="1000"/>
              </a:spcAft>
              <a:defRPr sz="1300">
                <a:solidFill>
                  <a:srgbClr val="374151"/>
                </a:solidFill>
              </a:defRPr>
            </a:pPr>
            <a:r>
              <a:t>• Temporal Resolution: 5-minute aggregations -&gt; 34,272 continuous timestamps.</a:t>
            </a:r>
          </a:p>
          <a:p>
            <a:pPr>
              <a:spcAft>
                <a:spcPts val="1000"/>
              </a:spcAft>
              <a:defRPr sz="1300">
                <a:solidFill>
                  <a:srgbClr val="374151"/>
                </a:solidFill>
              </a:defRPr>
            </a:pPr>
            <a:r>
              <a:t>• Total Observations: 7,094,304 speed measurements.</a:t>
            </a:r>
          </a:p>
          <a:p>
            <a:pPr>
              <a:spcAft>
                <a:spcPts val="1000"/>
              </a:spcAft>
              <a:defRPr sz="1300">
                <a:solidFill>
                  <a:srgbClr val="374151"/>
                </a:solidFill>
              </a:defRPr>
            </a:pPr>
            <a:r>
              <a:t>• File Integrity: SHA-256: 64784b...c05 (tracked in data_lineage.json).</a:t>
            </a:r>
          </a:p>
        </p:txBody>
      </p:sp>
      <p:pic>
        <p:nvPicPr>
          <p:cNvPr id="5" name="Picture 4" descr="speed_distribution.png"/>
          <p:cNvPicPr>
            <a:picLocks noChangeAspect="1"/>
          </p:cNvPicPr>
          <p:nvPr/>
        </p:nvPicPr>
        <p:blipFill>
          <a:blip r:embed="rId2"/>
          <a:stretch>
            <a:fillRect/>
          </a:stretch>
        </p:blipFill>
        <p:spPr>
          <a:xfrm>
            <a:off x="6400800" y="1645920"/>
            <a:ext cx="5029200" cy="2828925"/>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defRPr>
            </a:pPr>
            <a:r>
              <a:t>DATA QUALITY (WS1)</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E3A8A"/>
                </a:solidFill>
              </a:defRPr>
            </a:pPr>
            <a:r>
              <a:t>Missingness Accounting &amp; Evaluation Label Policy</a:t>
            </a:r>
          </a:p>
        </p:txBody>
      </p:sp>
      <p:sp>
        <p:nvSpPr>
          <p:cNvPr id="4" name="TextBox 3"/>
          <p:cNvSpPr txBox="1"/>
          <p:nvPr/>
        </p:nvSpPr>
        <p:spPr>
          <a:xfrm>
            <a:off x="731520" y="1645920"/>
            <a:ext cx="5486400" cy="4572000"/>
          </a:xfrm>
          <a:prstGeom prst="rect">
            <a:avLst/>
          </a:prstGeom>
          <a:noFill/>
        </p:spPr>
        <p:txBody>
          <a:bodyPr wrap="square">
            <a:spAutoFit/>
          </a:bodyPr>
          <a:lstStyle/>
          <a:p/>
          <a:p>
            <a:pPr>
              <a:spcAft>
                <a:spcPts val="1000"/>
              </a:spcAft>
              <a:defRPr sz="1300">
                <a:solidFill>
                  <a:srgbClr val="374151"/>
                </a:solidFill>
              </a:defRPr>
            </a:pPr>
            <a:r>
              <a:t>• NaN / Null Readings: Exactly 0 entries (null values stored as 0.0 in benchmark).</a:t>
            </a:r>
          </a:p>
          <a:p>
            <a:pPr>
              <a:spcAft>
                <a:spcPts val="1000"/>
              </a:spcAft>
              <a:defRPr sz="1300">
                <a:solidFill>
                  <a:srgbClr val="374151"/>
                </a:solidFill>
              </a:defRPr>
            </a:pPr>
            <a:r>
              <a:t>• Zero-Speed Readings (0.0 mph): 575,302 cells (8.11% of total matrix).</a:t>
            </a:r>
          </a:p>
          <a:p>
            <a:pPr>
              <a:spcAft>
                <a:spcPts val="1000"/>
              </a:spcAft>
              <a:defRPr sz="1300">
                <a:solidFill>
                  <a:srgbClr val="374151"/>
                </a:solidFill>
              </a:defRPr>
            </a:pPr>
            <a:r>
              <a:t>• Physical Anomalies (&gt;100 mph): Exactly 0 entries.</a:t>
            </a:r>
          </a:p>
          <a:p>
            <a:pPr>
              <a:spcAft>
                <a:spcPts val="1000"/>
              </a:spcAft>
              <a:defRPr sz="1300">
                <a:solidFill>
                  <a:srgbClr val="374151"/>
                </a:solidFill>
              </a:defRPr>
            </a:pPr>
            <a:r>
              <a:t>• Interpretation of 0.0 mph: Denotes hardware dropout, lane closure, or standstill congestion.</a:t>
            </a:r>
          </a:p>
          <a:p>
            <a:pPr>
              <a:spcAft>
                <a:spcPts val="1000"/>
              </a:spcAft>
              <a:defRPr sz="1300">
                <a:solidFill>
                  <a:srgbClr val="374151"/>
                </a:solidFill>
              </a:defRPr>
            </a:pPr>
            <a:r>
              <a:t>• Evaluation Label Policy: Ground truth target evaluation strictly requires &gt;0.0 mph valid measurements (avoids division by zero in MAPE).</a:t>
            </a:r>
          </a:p>
          <a:p>
            <a:pPr>
              <a:spcAft>
                <a:spcPts val="1000"/>
              </a:spcAft>
              <a:defRPr sz="1300">
                <a:solidFill>
                  <a:srgbClr val="374151"/>
                </a:solidFill>
              </a:defRPr>
            </a:pPr>
            <a:r>
              <a:t>• Feature Imputation Policy: Missing lags in historical window use causal forward-fill (strictly past observations; zero future leakage).</a:t>
            </a:r>
          </a:p>
        </p:txBody>
      </p:sp>
      <p:pic>
        <p:nvPicPr>
          <p:cNvPr id="5" name="Picture 4" descr="sensor_zero_distribution.png"/>
          <p:cNvPicPr>
            <a:picLocks noChangeAspect="1"/>
          </p:cNvPicPr>
          <p:nvPr/>
        </p:nvPicPr>
        <p:blipFill>
          <a:blip r:embed="rId2"/>
          <a:stretch>
            <a:fillRect/>
          </a:stretch>
        </p:blipFill>
        <p:spPr>
          <a:xfrm>
            <a:off x="6400800" y="1645920"/>
            <a:ext cx="5029200" cy="2828925"/>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defRPr>
            </a:pPr>
            <a:r>
              <a:t>FEATURE ENGINEERING (WS2)</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E3A8A"/>
                </a:solidFill>
              </a:defRPr>
            </a:pPr>
            <a:r>
              <a:t>Chronological Partitioning &amp; Causal Windowing</a:t>
            </a:r>
          </a:p>
        </p:txBody>
      </p:sp>
      <p:sp>
        <p:nvSpPr>
          <p:cNvPr id="4" name="TextBox 3"/>
          <p:cNvSpPr txBox="1"/>
          <p:nvPr/>
        </p:nvSpPr>
        <p:spPr>
          <a:xfrm>
            <a:off x="731520" y="1645920"/>
            <a:ext cx="10698480" cy="4572000"/>
          </a:xfrm>
          <a:prstGeom prst="rect">
            <a:avLst/>
          </a:prstGeom>
          <a:noFill/>
        </p:spPr>
        <p:txBody>
          <a:bodyPr wrap="square">
            <a:spAutoFit/>
          </a:bodyPr>
          <a:lstStyle/>
          <a:p/>
          <a:p>
            <a:pPr>
              <a:spcAft>
                <a:spcPts val="1200"/>
              </a:spcAft>
              <a:defRPr sz="1400">
                <a:solidFill>
                  <a:srgbClr val="374151"/>
                </a:solidFill>
              </a:defRPr>
            </a:pPr>
            <a:r>
              <a:t>• Strict Chronological Partitioning: 70% Train (23,990 steps, Mar-May) | 10% Val (3,427 steps, May-Jun) | 20% Test (6,855 steps, Jun). Zero temporal shuffle leakage.</a:t>
            </a:r>
          </a:p>
          <a:p>
            <a:pPr>
              <a:spcAft>
                <a:spcPts val="1200"/>
              </a:spcAft>
              <a:defRPr sz="1400">
                <a:solidFill>
                  <a:srgbClr val="374151"/>
                </a:solidFill>
              </a:defRPr>
            </a:pPr>
            <a:r>
              <a:t>• Preprocessing Isolation: StandardScaler parameters (mean, scale) fitted strictly on the Training partition; applied out-of-sample to Val and Test.</a:t>
            </a:r>
          </a:p>
          <a:p>
            <a:pPr>
              <a:spcAft>
                <a:spcPts val="1200"/>
              </a:spcAft>
              <a:defRPr sz="1400">
                <a:solidFill>
                  <a:srgbClr val="374151"/>
                </a:solidFill>
              </a:defRPr>
            </a:pPr>
            <a:r>
              <a:t>• Forecast Origin t: Observation timestamp defining the present moment.</a:t>
            </a:r>
          </a:p>
          <a:p>
            <a:pPr>
              <a:spcAft>
                <a:spcPts val="1200"/>
              </a:spcAft>
              <a:defRPr sz="1400">
                <a:solidFill>
                  <a:srgbClr val="374151"/>
                </a:solidFill>
              </a:defRPr>
            </a:pPr>
            <a:r>
              <a:t>• Historical Window: 12 past observations (t-11, t-10, ..., t) = 60 minutes of elapsed history.</a:t>
            </a:r>
          </a:p>
          <a:p>
            <a:pPr>
              <a:spcAft>
                <a:spcPts val="1200"/>
              </a:spcAft>
              <a:defRPr sz="1400">
                <a:solidFill>
                  <a:srgbClr val="374151"/>
                </a:solidFill>
              </a:defRPr>
            </a:pPr>
            <a:r>
              <a:t>• Multi-Horizon Targets: Direct step offsets: +15 min (h=3), +30 min (h=6), +60 min (h=12).</a:t>
            </a:r>
          </a:p>
          <a:p>
            <a:pPr>
              <a:spcAft>
                <a:spcPts val="1200"/>
              </a:spcAft>
              <a:defRPr sz="1400">
                <a:solidFill>
                  <a:srgbClr val="374151"/>
                </a:solidFill>
              </a:defRPr>
            </a:pPr>
            <a:r>
              <a:t>• Continuous Calendar Features: Sinusoidal and cosine projections of Time-of-Day (TOD) and Day-of-Week (DOW).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defRPr>
            </a:pPr>
            <a:r>
              <a:t>QA &amp; VALIDATION (WS2)</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E3A8A"/>
                </a:solidFill>
              </a:defRPr>
            </a:pPr>
            <a:r>
              <a:t>Scientific Verification &amp; Automated Test Suite</a:t>
            </a:r>
          </a:p>
        </p:txBody>
      </p:sp>
      <p:sp>
        <p:nvSpPr>
          <p:cNvPr id="4" name="TextBox 3"/>
          <p:cNvSpPr txBox="1"/>
          <p:nvPr/>
        </p:nvSpPr>
        <p:spPr>
          <a:xfrm>
            <a:off x="731520" y="1645920"/>
            <a:ext cx="10698480" cy="4572000"/>
          </a:xfrm>
          <a:prstGeom prst="rect">
            <a:avLst/>
          </a:prstGeom>
          <a:noFill/>
        </p:spPr>
        <p:txBody>
          <a:bodyPr wrap="square">
            <a:spAutoFit/>
          </a:bodyPr>
          <a:lstStyle/>
          <a:p/>
          <a:p>
            <a:pPr>
              <a:spcAft>
                <a:spcPts val="1000"/>
              </a:spcAft>
              <a:defRPr sz="1300">
                <a:solidFill>
                  <a:srgbClr val="374151"/>
                </a:solidFill>
              </a:defRPr>
            </a:pPr>
            <a:r>
              <a:t>✔ test_split_indices_proportions_and_continuity:: Asserts continuous chronological boundaries (0 -&gt; 23,990 -&gt; 27,417 -&gt; 34,272) with exact 70/10/20 ratios.</a:t>
            </a:r>
          </a:p>
          <a:p>
            <a:pPr>
              <a:spcAft>
                <a:spcPts val="1000"/>
              </a:spcAft>
              <a:defRPr sz="1300">
                <a:solidFill>
                  <a:srgbClr val="374151"/>
                </a:solidFill>
              </a:defRPr>
            </a:pPr>
            <a:r>
              <a:t>✔ test_exact_target_offsets:: Asserts target timestamps equal origin +15m, +30m, and +60m exactly (timedelta precision).</a:t>
            </a:r>
          </a:p>
          <a:p>
            <a:pPr>
              <a:spcAft>
                <a:spcPts val="1000"/>
              </a:spcAft>
              <a:defRPr sz="1300">
                <a:solidFill>
                  <a:srgbClr val="374151"/>
                </a:solidFill>
              </a:defRPr>
            </a:pPr>
            <a:r>
              <a:t>✔ test_causal_windowing_and_no_future_leakage:: Verifies feature column 11 exactly equals speed at origin t, and column 0 equals speed at t-55m.</a:t>
            </a:r>
          </a:p>
          <a:p>
            <a:pPr>
              <a:spcAft>
                <a:spcPts val="1000"/>
              </a:spcAft>
              <a:defRPr sz="1300">
                <a:solidFill>
                  <a:srgbClr val="374151"/>
                </a:solidFill>
              </a:defRPr>
            </a:pPr>
            <a:r>
              <a:t>✔ test_split_boundary_isolation_no_target_overflow:: Guarantees no origin or forward target crosses train/val or val/test boundaries.</a:t>
            </a:r>
          </a:p>
          <a:p>
            <a:pPr>
              <a:spcAft>
                <a:spcPts val="1000"/>
              </a:spcAft>
              <a:defRPr sz="1300">
                <a:solidFill>
                  <a:srgbClr val="374151"/>
                </a:solidFill>
              </a:defRPr>
            </a:pPr>
            <a:r>
              <a:t>✔ test_scaler_fit_strictly_on_train_only:: Proves that standard scaler mean and variance remain frozen when applied to test data.</a:t>
            </a:r>
          </a:p>
          <a:p>
            <a:pPr>
              <a:spcAft>
                <a:spcPts val="1000"/>
              </a:spcAft>
              <a:defRPr sz="1300">
                <a:solidFill>
                  <a:srgbClr val="374151"/>
                </a:solidFill>
              </a:defRPr>
            </a:pPr>
            <a:r>
              <a:t>✔ test_manual_metrics_recomputation:: Hand-calculated MAE, RMSE, and epsilon-MAPE on 5 test records match python output to 1e-4 tolerance.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defRPr>
            </a:pPr>
            <a:r>
              <a:t>EXPLORATORY ANALYSIS (WS1/WS2)</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E3A8A"/>
                </a:solidFill>
              </a:defRPr>
            </a:pPr>
            <a:r>
              <a:t>Diurnal Congestion Cycles &amp; Diurnal Profiles</a:t>
            </a:r>
          </a:p>
        </p:txBody>
      </p:sp>
      <p:sp>
        <p:nvSpPr>
          <p:cNvPr id="4" name="TextBox 3"/>
          <p:cNvSpPr txBox="1"/>
          <p:nvPr/>
        </p:nvSpPr>
        <p:spPr>
          <a:xfrm>
            <a:off x="731520" y="1645920"/>
            <a:ext cx="5029200" cy="4572000"/>
          </a:xfrm>
          <a:prstGeom prst="rect">
            <a:avLst/>
          </a:prstGeom>
          <a:noFill/>
        </p:spPr>
        <p:txBody>
          <a:bodyPr wrap="square">
            <a:spAutoFit/>
          </a:bodyPr>
          <a:lstStyle/>
          <a:p/>
          <a:p>
            <a:pPr>
              <a:spcAft>
                <a:spcPts val="1200"/>
              </a:spcAft>
              <a:defRPr sz="1300">
                <a:solidFill>
                  <a:srgbClr val="374151"/>
                </a:solidFill>
              </a:defRPr>
            </a:pPr>
            <a:r>
              <a:t>• Pronounced Bimodal Congestion: Network speeds drop dramatically twice each weekday.</a:t>
            </a:r>
          </a:p>
          <a:p>
            <a:pPr>
              <a:spcAft>
                <a:spcPts val="1200"/>
              </a:spcAft>
              <a:defRPr sz="1300">
                <a:solidFill>
                  <a:srgbClr val="374151"/>
                </a:solidFill>
              </a:defRPr>
            </a:pPr>
            <a:r>
              <a:t>• Morning Peak (07:00 - 09:30): Mean speed drops from 63 mph to ~48 mph.</a:t>
            </a:r>
          </a:p>
          <a:p>
            <a:pPr>
              <a:spcAft>
                <a:spcPts val="1200"/>
              </a:spcAft>
              <a:defRPr sz="1300">
                <a:solidFill>
                  <a:srgbClr val="374151"/>
                </a:solidFill>
              </a:defRPr>
            </a:pPr>
            <a:r>
              <a:t>• Evening Peak (16:00 - 19:00): Prolonged rush hour with high corridor variance.</a:t>
            </a:r>
          </a:p>
          <a:p>
            <a:pPr>
              <a:spcAft>
                <a:spcPts val="1200"/>
              </a:spcAft>
              <a:defRPr sz="1300">
                <a:solidFill>
                  <a:srgbClr val="374151"/>
                </a:solidFill>
              </a:defRPr>
            </a:pPr>
            <a:r>
              <a:t>• Weekday vs. Weekend Contrast: Weekends maintain steady free-flow speeds (60-64 mph) without severe rush-hour drops.</a:t>
            </a:r>
          </a:p>
          <a:p>
            <a:pPr>
              <a:spcAft>
                <a:spcPts val="1200"/>
              </a:spcAft>
              <a:defRPr sz="1300">
                <a:solidFill>
                  <a:srgbClr val="374151"/>
                </a:solidFill>
              </a:defRPr>
            </a:pPr>
            <a:r>
              <a:t>• Autocorrelation: ACF remains &gt;0.85 at 15m and &gt;0.70 at 60m, demonstrating strong short-term temporal predictability.</a:t>
            </a:r>
          </a:p>
        </p:txBody>
      </p:sp>
      <p:pic>
        <p:nvPicPr>
          <p:cNvPr id="5" name="Picture 4" descr="diurnal_cycle.png"/>
          <p:cNvPicPr>
            <a:picLocks noChangeAspect="1"/>
          </p:cNvPicPr>
          <p:nvPr/>
        </p:nvPicPr>
        <p:blipFill>
          <a:blip r:embed="rId2"/>
          <a:stretch>
            <a:fillRect/>
          </a:stretch>
        </p:blipFill>
        <p:spPr>
          <a:xfrm>
            <a:off x="6035040" y="1645920"/>
            <a:ext cx="5394960" cy="287731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defRPr>
            </a:pPr>
            <a:r>
              <a:t>MODEL ARCHITECTURE (WS3)</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E3A8A"/>
                </a:solidFill>
              </a:defRPr>
            </a:pPr>
            <a:r>
              <a:t>Classical Baseline Formulations</a:t>
            </a:r>
          </a:p>
        </p:txBody>
      </p:sp>
      <p:sp>
        <p:nvSpPr>
          <p:cNvPr id="4" name="TextBox 3"/>
          <p:cNvSpPr txBox="1"/>
          <p:nvPr/>
        </p:nvSpPr>
        <p:spPr>
          <a:xfrm>
            <a:off x="731520" y="1645920"/>
            <a:ext cx="10698480" cy="4572000"/>
          </a:xfrm>
          <a:prstGeom prst="rect">
            <a:avLst/>
          </a:prstGeom>
          <a:noFill/>
        </p:spPr>
        <p:txBody>
          <a:bodyPr wrap="square">
            <a:spAutoFit/>
          </a:bodyPr>
          <a:lstStyle/>
          <a:p/>
          <a:p>
            <a:pPr>
              <a:spcAft>
                <a:spcPts val="1200"/>
              </a:spcAft>
              <a:defRPr sz="1300">
                <a:solidFill>
                  <a:srgbClr val="374151"/>
                </a:solidFill>
              </a:defRPr>
            </a:pPr>
            <a:r>
              <a:t>• Historical Persistence (Last-Value Baseline): y_hat(t+h) = y(t). Assumes traffic speed remains unchanged over lookahead h. Primary classical lower-bound benchmark.</a:t>
            </a:r>
          </a:p>
          <a:p>
            <a:pPr>
              <a:spcAft>
                <a:spcPts val="1200"/>
              </a:spcAft>
              <a:defRPr sz="1300">
                <a:solidFill>
                  <a:srgbClr val="374151"/>
                </a:solidFill>
              </a:defRPr>
            </a:pPr>
            <a:r>
              <a:t>• Multi-Horizon Ridge Regression: Direct regularized linear models minimizing squared error with L2 penalty: Loss = ||y - Xw||^2 + alpha ||w||^2. Hyperparameter alpha tuned strictly on chronological validation set (alpha=100.0 at 15m, 0.1 at 30m/60m).</a:t>
            </a:r>
          </a:p>
          <a:p>
            <a:pPr>
              <a:spcAft>
                <a:spcPts val="1200"/>
              </a:spcAft>
              <a:defRPr sz="1300">
                <a:solidFill>
                  <a:srgbClr val="374151"/>
                </a:solidFill>
              </a:defRPr>
            </a:pPr>
            <a:r>
              <a:t>• Multi-Horizon XGBoost Regressors: Gradient boosted decision tree ensembles minimizing regularized objective via second-order Taylor expansion: Loss = sum [ g_i f(x) + 0.5 h_i f^2(x) ] + Omega(f).</a:t>
            </a:r>
          </a:p>
          <a:p>
            <a:pPr>
              <a:spcAft>
                <a:spcPts val="1200"/>
              </a:spcAft>
              <a:defRPr sz="1300">
                <a:solidFill>
                  <a:srgbClr val="374151"/>
                </a:solidFill>
              </a:defRPr>
            </a:pPr>
            <a:r>
              <a:t>• XGBoost Configuration: 250 estimators, max depth 6, learning rate 0.05, subsample 0.8, colsample 0.8, with validation early stopping (25 rounds).</a:t>
            </a:r>
          </a:p>
          <a:p>
            <a:pPr>
              <a:spcAft>
                <a:spcPts val="1200"/>
              </a:spcAft>
              <a:defRPr sz="1300">
                <a:solidFill>
                  <a:srgbClr val="374151"/>
                </a:solidFill>
              </a:defRPr>
            </a:pPr>
            <a:r>
              <a:t>• Pilot Sensor Scope: Trained on 15 representative highway sensors covering 359,505 training examples.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defRPr>
            </a:pPr>
            <a:r>
              <a:t>RESULTS &amp; EVALUATION (WS3)</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E3A8A"/>
                </a:solidFill>
              </a:defRPr>
            </a:pPr>
            <a:r>
              <a:t>Empirical Test Benchmark Results (90,149 Instances)</a:t>
            </a:r>
          </a:p>
        </p:txBody>
      </p:sp>
      <p:sp>
        <p:nvSpPr>
          <p:cNvPr id="4" name="TextBox 3"/>
          <p:cNvSpPr txBox="1"/>
          <p:nvPr/>
        </p:nvSpPr>
        <p:spPr>
          <a:xfrm>
            <a:off x="731520" y="1645920"/>
            <a:ext cx="5303520" cy="4572000"/>
          </a:xfrm>
          <a:prstGeom prst="rect">
            <a:avLst/>
          </a:prstGeom>
          <a:noFill/>
        </p:spPr>
        <p:txBody>
          <a:bodyPr wrap="square">
            <a:spAutoFit/>
          </a:bodyPr>
          <a:lstStyle/>
          <a:p/>
          <a:p>
            <a:pPr>
              <a:spcAft>
                <a:spcPts val="1200"/>
              </a:spcAft>
              <a:defRPr sz="1300">
                <a:solidFill>
                  <a:srgbClr val="374151"/>
                </a:solidFill>
              </a:defRPr>
            </a:pPr>
            <a:r>
              <a:t>• 15-Minute Horizon (+3 steps): XGBoost achieves 2.59 mph MAE (13.7% error reduction vs Persistence 3.00 mph). Ridge achieves 2.88 mph.</a:t>
            </a:r>
          </a:p>
          <a:p>
            <a:pPr>
              <a:spcAft>
                <a:spcPts val="1200"/>
              </a:spcAft>
              <a:defRPr sz="1300">
                <a:solidFill>
                  <a:srgbClr val="374151"/>
                </a:solidFill>
              </a:defRPr>
            </a:pPr>
            <a:r>
              <a:t>• 30-Minute Horizon (+6 steps): XGBoost achieves 3.17 mph MAE (12.4% error reduction vs Persistence 3.62 mph). Ridge achieves 3.61 mph.</a:t>
            </a:r>
          </a:p>
          <a:p>
            <a:pPr>
              <a:spcAft>
                <a:spcPts val="1200"/>
              </a:spcAft>
              <a:defRPr sz="1300">
                <a:solidFill>
                  <a:srgbClr val="374151"/>
                </a:solidFill>
              </a:defRPr>
            </a:pPr>
            <a:r>
              <a:t>• 60-Minute Horizon (+12 steps): XGBoost achieves 4.01 mph MAE (15.3% error reduction vs Persistence 4.73 mph). Ridge degrades to 4.91 mph.</a:t>
            </a:r>
          </a:p>
          <a:p>
            <a:pPr>
              <a:spcAft>
                <a:spcPts val="1200"/>
              </a:spcAft>
              <a:defRPr sz="1300">
                <a:solidFill>
                  <a:srgbClr val="374151"/>
                </a:solidFill>
              </a:defRPr>
            </a:pPr>
            <a:r>
              <a:t>• Key Finding: Linear Ridge degrades faster than Persistence at 60m because distant linear projections suffer from collinearity, whereas XGBoost tree splits isolate non-linear traffic regimes.</a:t>
            </a:r>
          </a:p>
        </p:txBody>
      </p:sp>
      <p:pic>
        <p:nvPicPr>
          <p:cNvPr id="5" name="Picture 4" descr="multi_horizon_comparison.png"/>
          <p:cNvPicPr>
            <a:picLocks noChangeAspect="1"/>
          </p:cNvPicPr>
          <p:nvPr/>
        </p:nvPicPr>
        <p:blipFill>
          <a:blip r:embed="rId2"/>
          <a:stretch>
            <a:fillRect/>
          </a:stretch>
        </p:blipFill>
        <p:spPr>
          <a:xfrm>
            <a:off x="6217920" y="1645920"/>
            <a:ext cx="5303520" cy="22098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defRPr>
            </a:pPr>
            <a:r>
              <a:t>QUALITATIVE EVALUATION (WS3)</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E3A8A"/>
                </a:solidFill>
              </a:defRPr>
            </a:pPr>
            <a:r>
              <a:t>Test Set 24-Hour Forecast Trace (Sensor 773869)</a:t>
            </a:r>
          </a:p>
        </p:txBody>
      </p:sp>
      <p:sp>
        <p:nvSpPr>
          <p:cNvPr id="4" name="TextBox 3"/>
          <p:cNvSpPr txBox="1"/>
          <p:nvPr/>
        </p:nvSpPr>
        <p:spPr>
          <a:xfrm>
            <a:off x="731520" y="1645920"/>
            <a:ext cx="5029200" cy="4572000"/>
          </a:xfrm>
          <a:prstGeom prst="rect">
            <a:avLst/>
          </a:prstGeom>
          <a:noFill/>
        </p:spPr>
        <p:txBody>
          <a:bodyPr wrap="square">
            <a:spAutoFit/>
          </a:bodyPr>
          <a:lstStyle/>
          <a:p/>
          <a:p>
            <a:pPr>
              <a:spcAft>
                <a:spcPts val="1200"/>
              </a:spcAft>
              <a:defRPr sz="1300">
                <a:solidFill>
                  <a:srgbClr val="374151"/>
                </a:solidFill>
              </a:defRPr>
            </a:pPr>
            <a:r>
              <a:t>• Held-Out Test Date: Tuesday, June 5, 2012 (Held-out Test Split).</a:t>
            </a:r>
          </a:p>
          <a:p>
            <a:pPr>
              <a:spcAft>
                <a:spcPts val="1200"/>
              </a:spcAft>
              <a:defRPr sz="1300">
                <a:solidFill>
                  <a:srgbClr val="374151"/>
                </a:solidFill>
              </a:defRPr>
            </a:pPr>
            <a:r>
              <a:t>• Sensor: Station 773869 (I-5 freeway corridor).</a:t>
            </a:r>
          </a:p>
          <a:p>
            <a:pPr>
              <a:spcAft>
                <a:spcPts val="1200"/>
              </a:spcAft>
              <a:defRPr sz="1300">
                <a:solidFill>
                  <a:srgbClr val="374151"/>
                </a:solidFill>
              </a:defRPr>
            </a:pPr>
            <a:r>
              <a:t>• Ground Truth vs Predictions: 15-minute ahead speed forecasts.</a:t>
            </a:r>
          </a:p>
          <a:p>
            <a:pPr>
              <a:spcAft>
                <a:spcPts val="1200"/>
              </a:spcAft>
              <a:defRPr sz="1300">
                <a:solidFill>
                  <a:srgbClr val="374151"/>
                </a:solidFill>
              </a:defRPr>
            </a:pPr>
            <a:r>
              <a:t>• Morning Rush Hour Behavior: Ground truth drops abruptly at 07:30. Persistence lags the drop by 15 minutes.</a:t>
            </a:r>
          </a:p>
          <a:p>
            <a:pPr>
              <a:spcAft>
                <a:spcPts val="1200"/>
              </a:spcAft>
              <a:defRPr sz="1300">
                <a:solidFill>
                  <a:srgbClr val="374151"/>
                </a:solidFill>
              </a:defRPr>
            </a:pPr>
            <a:r>
              <a:t>• XGBoost Reactivity: Accurately anticipates the speed drop and tracks the sharp evening recovery without oscillations.</a:t>
            </a:r>
          </a:p>
          <a:p>
            <a:pPr>
              <a:spcAft>
                <a:spcPts val="1200"/>
              </a:spcAft>
              <a:defRPr sz="1300">
                <a:solidFill>
                  <a:srgbClr val="374151"/>
                </a:solidFill>
              </a:defRPr>
            </a:pPr>
            <a:r>
              <a:t>• Residuals: Errors are centered at 0.0 mph with narrow variance.</a:t>
            </a:r>
          </a:p>
        </p:txBody>
      </p:sp>
      <p:pic>
        <p:nvPicPr>
          <p:cNvPr id="5" name="Picture 4" descr="test_forecast_trace.png"/>
          <p:cNvPicPr>
            <a:picLocks noChangeAspect="1"/>
          </p:cNvPicPr>
          <p:nvPr/>
        </p:nvPicPr>
        <p:blipFill>
          <a:blip r:embed="rId2"/>
          <a:stretch>
            <a:fillRect/>
          </a:stretch>
        </p:blipFill>
        <p:spPr>
          <a:xfrm>
            <a:off x="6035040" y="1645920"/>
            <a:ext cx="5394960" cy="235416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defRPr>
            </a:pPr>
            <a:r>
              <a:t>STRATIFIED ERROR ANALYSIS (WS3)</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E3A8A"/>
                </a:solidFill>
              </a:defRPr>
            </a:pPr>
            <a:r>
              <a:t>Peak vs. Off-Peak Rush Hour Error Inflation</a:t>
            </a:r>
          </a:p>
        </p:txBody>
      </p:sp>
      <p:sp>
        <p:nvSpPr>
          <p:cNvPr id="4" name="TextBox 3"/>
          <p:cNvSpPr txBox="1"/>
          <p:nvPr/>
        </p:nvSpPr>
        <p:spPr>
          <a:xfrm>
            <a:off x="731520" y="1645920"/>
            <a:ext cx="10698480" cy="4572000"/>
          </a:xfrm>
          <a:prstGeom prst="rect">
            <a:avLst/>
          </a:prstGeom>
          <a:noFill/>
        </p:spPr>
        <p:txBody>
          <a:bodyPr wrap="square">
            <a:spAutoFit/>
          </a:bodyPr>
          <a:lstStyle/>
          <a:p/>
          <a:p>
            <a:pPr>
              <a:spcAft>
                <a:spcPts val="1200"/>
              </a:spcAft>
              <a:defRPr sz="1300">
                <a:solidFill>
                  <a:srgbClr val="374151"/>
                </a:solidFill>
              </a:defRPr>
            </a:pPr>
            <a:r>
              <a:t>• Rush Hour Definition: Morning Peak (07:00-09:30) &amp; Evening Peak (16:00-19:00) on weekdays only.</a:t>
            </a:r>
          </a:p>
          <a:p>
            <a:pPr>
              <a:spcAft>
                <a:spcPts val="1200"/>
              </a:spcAft>
              <a:defRPr sz="1300">
                <a:solidFill>
                  <a:srgbClr val="374151"/>
                </a:solidFill>
              </a:defRPr>
            </a:pPr>
            <a:r>
              <a:t>• 15-Minute Horizon Peak Inflation: XGBoost Peak MAE is 3.66 mph vs Off-Peak MAE of 2.29 mph (+59.8% inflation). Persistence Peak MAE is 4.24 mph vs 2.65 mph.</a:t>
            </a:r>
          </a:p>
          <a:p>
            <a:pPr>
              <a:spcAft>
                <a:spcPts val="1200"/>
              </a:spcAft>
              <a:defRPr sz="1300">
                <a:solidFill>
                  <a:srgbClr val="374151"/>
                </a:solidFill>
              </a:defRPr>
            </a:pPr>
            <a:r>
              <a:t>• 60-Minute Horizon Peak Inflation: XGBoost Peak MAE reaches 5.09 mph vs 3.70 mph off-peak. Ridge degrades to 6.47 mph during peaks.</a:t>
            </a:r>
          </a:p>
          <a:p>
            <a:pPr>
              <a:spcAft>
                <a:spcPts val="1200"/>
              </a:spcAft>
              <a:defRPr sz="1300">
                <a:solidFill>
                  <a:srgbClr val="374151"/>
                </a:solidFill>
              </a:defRPr>
            </a:pPr>
            <a:r>
              <a:t>• Traffic Engineering Root Cause: During free-flow off-peak hours, traffic behaves almost deterministically (cars travel at speed limit ~65 mph). During peak hours, non-linear shockwaves propagate upstream when volume exceeds road capacity, multiplying forecast difficulty.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defRPr>
            </a:pPr>
            <a:r>
              <a:t>FEATURE ABLATION (WS3)</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E3A8A"/>
                </a:solidFill>
              </a:defRPr>
            </a:pPr>
            <a:r>
              <a:t>Road Network Spatial Lag Feature Ablation</a:t>
            </a:r>
          </a:p>
        </p:txBody>
      </p:sp>
      <p:sp>
        <p:nvSpPr>
          <p:cNvPr id="4" name="TextBox 3"/>
          <p:cNvSpPr txBox="1"/>
          <p:nvPr/>
        </p:nvSpPr>
        <p:spPr>
          <a:xfrm>
            <a:off x="731520" y="1645920"/>
            <a:ext cx="5120640" cy="4572000"/>
          </a:xfrm>
          <a:prstGeom prst="rect">
            <a:avLst/>
          </a:prstGeom>
          <a:noFill/>
        </p:spPr>
        <p:txBody>
          <a:bodyPr wrap="square">
            <a:spAutoFit/>
          </a:bodyPr>
          <a:lstStyle/>
          <a:p/>
          <a:p>
            <a:pPr>
              <a:spcAft>
                <a:spcPts val="1000"/>
              </a:spcAft>
              <a:defRPr sz="1300">
                <a:solidFill>
                  <a:srgbClr val="374151"/>
                </a:solidFill>
              </a:defRPr>
            </a:pPr>
            <a:r>
              <a:t>• Hypothesis: Adding historical lags from 1st-order road network topological neighbors improves medium-term forecasting accuracy.</a:t>
            </a:r>
          </a:p>
          <a:p>
            <a:pPr>
              <a:spcAft>
                <a:spcPts val="1000"/>
              </a:spcAft>
              <a:defRPr sz="1300">
                <a:solidFill>
                  <a:srgbClr val="374151"/>
                </a:solidFill>
              </a:defRPr>
            </a:pPr>
            <a:r>
              <a:t>• Feature Configurations: Isolated single-sensor lags (21 features) vs Augmented with top-3 nearest graph neighbors (30 features).</a:t>
            </a:r>
          </a:p>
          <a:p>
            <a:pPr>
              <a:spcAft>
                <a:spcPts val="1000"/>
              </a:spcAft>
              <a:defRPr sz="1300">
                <a:solidFill>
                  <a:srgbClr val="374151"/>
                </a:solidFill>
              </a:defRPr>
            </a:pPr>
            <a:r>
              <a:t>• 15-Min Horizon Result: MAE drops from 2.595 mph to 2.546 mph (RMSE 4.88 -&gt; 4.66 mph).</a:t>
            </a:r>
          </a:p>
          <a:p>
            <a:pPr>
              <a:spcAft>
                <a:spcPts val="1000"/>
              </a:spcAft>
              <a:defRPr sz="1300">
                <a:solidFill>
                  <a:srgbClr val="374151"/>
                </a:solidFill>
              </a:defRPr>
            </a:pPr>
            <a:r>
              <a:t>• 30-Min Horizon Result: MAE drops from 3.174 mph to 3.073 mph (RMSE 6.07 -&gt; 5.76 mph).</a:t>
            </a:r>
          </a:p>
          <a:p>
            <a:pPr>
              <a:spcAft>
                <a:spcPts val="1000"/>
              </a:spcAft>
              <a:defRPr sz="1300">
                <a:solidFill>
                  <a:srgbClr val="374151"/>
                </a:solidFill>
              </a:defRPr>
            </a:pPr>
            <a:r>
              <a:t>• 60-Min Horizon Result: MAE drops from 4.021 mph to 3.811 mph (RMSE 7.54 -&gt; 7.03 mph) - a 5.2% relative error reduction.</a:t>
            </a:r>
          </a:p>
          <a:p>
            <a:pPr>
              <a:spcAft>
                <a:spcPts val="1000"/>
              </a:spcAft>
              <a:defRPr sz="1300">
                <a:solidFill>
                  <a:srgbClr val="374151"/>
                </a:solidFill>
              </a:defRPr>
            </a:pPr>
            <a:r>
              <a:t>• Significance: Provides empirical justification for Phase 2 Graph Neural Networks.</a:t>
            </a:r>
          </a:p>
        </p:txBody>
      </p:sp>
      <p:pic>
        <p:nvPicPr>
          <p:cNvPr id="5" name="Picture 4" descr="spatial_ablation_comparison.png"/>
          <p:cNvPicPr>
            <a:picLocks noChangeAspect="1"/>
          </p:cNvPicPr>
          <p:nvPr/>
        </p:nvPicPr>
        <p:blipFill>
          <a:blip r:embed="rId2"/>
          <a:stretch>
            <a:fillRect/>
          </a:stretch>
        </p:blipFill>
        <p:spPr>
          <a:xfrm>
            <a:off x="6217920" y="1645920"/>
            <a:ext cx="5303520" cy="318211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defRPr>
            </a:pPr>
            <a:r>
              <a:t>SOFTWARE ENGINEERING (WS4)</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E3A8A"/>
                </a:solidFill>
              </a:defRPr>
            </a:pPr>
            <a:r>
              <a:t>Interactive Streamlit Evaluation Dashboard</a:t>
            </a:r>
          </a:p>
        </p:txBody>
      </p:sp>
      <p:sp>
        <p:nvSpPr>
          <p:cNvPr id="4" name="TextBox 3"/>
          <p:cNvSpPr txBox="1"/>
          <p:nvPr/>
        </p:nvSpPr>
        <p:spPr>
          <a:xfrm>
            <a:off x="731520" y="1645920"/>
            <a:ext cx="10698480" cy="4572000"/>
          </a:xfrm>
          <a:prstGeom prst="rect">
            <a:avLst/>
          </a:prstGeom>
          <a:noFill/>
        </p:spPr>
        <p:txBody>
          <a:bodyPr wrap="square">
            <a:spAutoFit/>
          </a:bodyPr>
          <a:lstStyle/>
          <a:p/>
          <a:p>
            <a:pPr>
              <a:spcAft>
                <a:spcPts val="1200"/>
              </a:spcAft>
              <a:defRPr sz="1300">
                <a:solidFill>
                  <a:srgbClr val="374151"/>
                </a:solidFill>
              </a:defRPr>
            </a:pPr>
            <a:r>
              <a:t>• Multi-Page System Architecture: Built with Streamlit, organized into 5 dedicated analytical modules: Executive Overview, Dataset Explorer, Interactive Forecast Lab, Benchmark &amp; Error Analysis, and Road Network Preview.</a:t>
            </a:r>
          </a:p>
          <a:p>
            <a:pPr>
              <a:spcAft>
                <a:spcPts val="1200"/>
              </a:spcAft>
              <a:defRPr sz="1300">
                <a:solidFill>
                  <a:srgbClr val="374151"/>
                </a:solidFill>
              </a:defRPr>
            </a:pPr>
            <a:r>
              <a:t>• Zero Live-Retraining Latency: Operates completely offline using precomputed evaluation artifacts (test_predictions.parquet and lightweight history slices), launching in under 2 seconds.</a:t>
            </a:r>
          </a:p>
          <a:p>
            <a:pPr>
              <a:spcAft>
                <a:spcPts val="1200"/>
              </a:spcAft>
              <a:defRPr sz="1300">
                <a:solidFill>
                  <a:srgbClr val="374151"/>
                </a:solidFill>
              </a:defRPr>
            </a:pPr>
            <a:r>
              <a:t>• Interactive Forecast Lab: Allows examiners to select any sensor station and held-out test timestamp to inspect historical 60-min speeds alongside ground truth vs model forecasts.</a:t>
            </a:r>
          </a:p>
          <a:p>
            <a:pPr>
              <a:spcAft>
                <a:spcPts val="1200"/>
              </a:spcAft>
              <a:defRPr sz="1300">
                <a:solidFill>
                  <a:srgbClr val="374151"/>
                </a:solidFill>
              </a:defRPr>
            </a:pPr>
            <a:r>
              <a:t>• Geospatial Highway View: Interactive Caltrans sensor station map using exact latitude/longitude coordinates across Los Angeles County.</a:t>
            </a:r>
          </a:p>
          <a:p>
            <a:pPr>
              <a:spcAft>
                <a:spcPts val="1200"/>
              </a:spcAft>
              <a:defRPr sz="1300">
                <a:solidFill>
                  <a:srgbClr val="374151"/>
                </a:solidFill>
              </a:defRPr>
            </a:pPr>
            <a:r>
              <a:t>• Reproducible Execution: Runs locally via 'streamlit run app/streamlit_app.py' with zero cloud dependency.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defRPr>
            </a:pPr>
            <a:r>
              <a:t>RESEARCH ROADMAP (PHASE 2)</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E3A8A"/>
                </a:solidFill>
              </a:defRPr>
            </a:pPr>
            <a:r>
              <a:t>Phase 2 Research Blueprint: Graph Attention Networks</a:t>
            </a:r>
          </a:p>
        </p:txBody>
      </p:sp>
      <p:sp>
        <p:nvSpPr>
          <p:cNvPr id="4" name="TextBox 3"/>
          <p:cNvSpPr txBox="1"/>
          <p:nvPr/>
        </p:nvSpPr>
        <p:spPr>
          <a:xfrm>
            <a:off x="731520" y="1645920"/>
            <a:ext cx="10698480" cy="4572000"/>
          </a:xfrm>
          <a:prstGeom prst="rect">
            <a:avLst/>
          </a:prstGeom>
          <a:noFill/>
        </p:spPr>
        <p:txBody>
          <a:bodyPr wrap="square">
            <a:spAutoFit/>
          </a:bodyPr>
          <a:lstStyle/>
          <a:p/>
          <a:p>
            <a:pPr>
              <a:spcAft>
                <a:spcPts val="1200"/>
              </a:spcAft>
              <a:defRPr sz="1300">
                <a:solidFill>
                  <a:srgbClr val="374151"/>
                </a:solidFill>
              </a:defRPr>
            </a:pPr>
            <a:r>
              <a:t>• Limitations of Classical Spatial ML: In classical ML, spatial features use fixed static weights (top-3 neighbors), unable to capture dynamic, time-varying shockwave propagation velocities.</a:t>
            </a:r>
          </a:p>
          <a:p>
            <a:pPr>
              <a:spcAft>
                <a:spcPts val="1200"/>
              </a:spcAft>
              <a:defRPr sz="1300">
                <a:solidFill>
                  <a:srgbClr val="374151"/>
                </a:solidFill>
              </a:defRPr>
            </a:pPr>
            <a:r>
              <a:t>• Graph Attention Networks (GAT): Computes dynamic, data-driven attention coefficients alpha_ij(t) between adjacent sensors: alpha_ij = softmax( LeakyReLU( a^T [Wh_i || Wh_j] ) ).</a:t>
            </a:r>
          </a:p>
          <a:p>
            <a:pPr>
              <a:spcAft>
                <a:spcPts val="1200"/>
              </a:spcAft>
              <a:defRPr sz="1300">
                <a:solidFill>
                  <a:srgbClr val="374151"/>
                </a:solidFill>
              </a:defRPr>
            </a:pPr>
            <a:r>
              <a:t>• Dynamic Receptive Field: Upstream sensors receive high attention during oncoming shockwaves, but low attention during free-flow uncongested states.</a:t>
            </a:r>
          </a:p>
          <a:p>
            <a:pPr>
              <a:spcAft>
                <a:spcPts val="1200"/>
              </a:spcAft>
              <a:defRPr sz="1300">
                <a:solidFill>
                  <a:srgbClr val="374151"/>
                </a:solidFill>
              </a:defRPr>
            </a:pPr>
            <a:r>
              <a:t>• Spatio-Temporal Hybridization: Coupling GAT spatial attention with Temporal Convolutional Networks (TCN) or GRUs for joint spatio-temporal modeling.</a:t>
            </a:r>
          </a:p>
          <a:p>
            <a:pPr>
              <a:spcAft>
                <a:spcPts val="1200"/>
              </a:spcAft>
              <a:defRPr sz="1300">
                <a:solidFill>
                  <a:srgbClr val="374151"/>
                </a:solidFill>
              </a:defRPr>
            </a:pPr>
            <a:r>
              <a:t>• Benchmark Target: Phase 2 deep architectures must surpass our Phase 1 classical baseline (XGBoost 2.59 mph at 15m, 4.01 mph at 60m).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2563EB"/>
                </a:solidFill>
              </a:defRPr>
            </a:pPr>
            <a:r>
              <a:t>SUMMARY &amp; DELIVERABLES</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E3A8A"/>
                </a:solidFill>
              </a:defRPr>
            </a:pPr>
            <a:r>
              <a:t>Conclusion &amp; Acceptance Verification</a:t>
            </a:r>
          </a:p>
        </p:txBody>
      </p:sp>
      <p:sp>
        <p:nvSpPr>
          <p:cNvPr id="4" name="TextBox 3"/>
          <p:cNvSpPr txBox="1"/>
          <p:nvPr/>
        </p:nvSpPr>
        <p:spPr>
          <a:xfrm>
            <a:off x="731520" y="1645920"/>
            <a:ext cx="10698480" cy="4572000"/>
          </a:xfrm>
          <a:prstGeom prst="rect">
            <a:avLst/>
          </a:prstGeom>
          <a:noFill/>
        </p:spPr>
        <p:txBody>
          <a:bodyPr wrap="square">
            <a:spAutoFit/>
          </a:bodyPr>
          <a:lstStyle/>
          <a:p/>
          <a:p>
            <a:pPr>
              <a:spcAft>
                <a:spcPts val="1000"/>
              </a:spcAft>
              <a:defRPr sz="1300">
                <a:solidFill>
                  <a:srgbClr val="374151"/>
                </a:solidFill>
              </a:defRPr>
            </a:pPr>
            <a:r>
              <a:t>✔ Rigorous Provenance &amp; Audit: Cryptographically verified METR-LA HDF5 dataset, explicit zero-speed missingness accounting, and 0 irregular intervals.</a:t>
            </a:r>
          </a:p>
          <a:p>
            <a:pPr>
              <a:spcAft>
                <a:spcPts val="1000"/>
              </a:spcAft>
              <a:defRPr sz="1300">
                <a:solidFill>
                  <a:srgbClr val="374151"/>
                </a:solidFill>
              </a:defRPr>
            </a:pPr>
            <a:r>
              <a:t>✔ Causal Windowing &amp; Isolation: Strict 70/10/20 chronological split, past-only feature extraction, and training-isolated standardizers passing all pytest checks.</a:t>
            </a:r>
          </a:p>
          <a:p>
            <a:pPr>
              <a:spcAft>
                <a:spcPts val="1000"/>
              </a:spcAft>
              <a:defRPr sz="1300">
                <a:solidFill>
                  <a:srgbClr val="374151"/>
                </a:solidFill>
              </a:defRPr>
            </a:pPr>
            <a:r>
              <a:t>✔ Empirical Benchmarks: Established genuine test baselines: Persistence (3.00, 3.62, 4.73 mph), Ridge (2.88, 3.61, 4.91 mph), and XGBoost (2.59, 3.17, 4.01 mph).</a:t>
            </a:r>
          </a:p>
          <a:p>
            <a:pPr>
              <a:spcAft>
                <a:spcPts val="1000"/>
              </a:spcAft>
              <a:defRPr sz="1300">
                <a:solidFill>
                  <a:srgbClr val="374151"/>
                </a:solidFill>
              </a:defRPr>
            </a:pPr>
            <a:r>
              <a:t>✔ Spatial Ablation Verified: Road network neighbor lags prove spatial propagation of shockwaves, cutting 60m MAE to 3.81 mph.</a:t>
            </a:r>
          </a:p>
          <a:p>
            <a:pPr>
              <a:spcAft>
                <a:spcPts val="1000"/>
              </a:spcAft>
              <a:defRPr sz="1300">
                <a:solidFill>
                  <a:srgbClr val="374151"/>
                </a:solidFill>
              </a:defRPr>
            </a:pPr>
            <a:r>
              <a:t>✔ Complete Deliverables Delivered: Streamlit App, IEEE LaTeX manuscript (main.tex), 15-slide presentation deck, VIVA guide, TASK_BOARD.md, and CONTRIBUTIONS.md.</a:t>
            </a:r>
          </a:p>
          <a:p>
            <a:pPr>
              <a:spcAft>
                <a:spcPts val="1000"/>
              </a:spcAft>
              <a:defRPr sz="1300">
                <a:solidFill>
                  <a:srgbClr val="374151"/>
                </a:solidFill>
              </a:defRPr>
            </a:pPr>
            <a:r>
              <a:t>✔ Examiner Q&amp;A Readiness: The team welcomes questions from the examining committee.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